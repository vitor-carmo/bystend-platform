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0" r:id="rId9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733"/>
    <a:srgbClr val="0B2545"/>
    <a:srgbClr val="FF8C00"/>
    <a:srgbClr val="B99ACF"/>
    <a:srgbClr val="FF6600"/>
    <a:srgbClr val="E40303"/>
    <a:srgbClr val="1B6CA8"/>
    <a:srgbClr val="8E6AAE"/>
    <a:srgbClr val="8E2C8E"/>
    <a:srgbClr val="6A1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87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3441-66FB-C69C-8BA2-78A5514F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5B083354-BDFD-9B45-B338-F90F42362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13504"/>
              </p:ext>
            </p:extLst>
          </p:nvPr>
        </p:nvGraphicFramePr>
        <p:xfrm>
          <a:off x="1841156" y="852610"/>
          <a:ext cx="5400000" cy="88560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0996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704571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FF6600"/>
                        </a:solidFill>
                      </a:endParaRPr>
                    </a:p>
                  </a:txBody>
                  <a:tcPr anchor="ctr">
                    <a:solidFill>
                      <a:srgbClr val="8E2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FF6600"/>
                        </a:solidFill>
                      </a:endParaRPr>
                    </a:p>
                  </a:txBody>
                  <a:tcPr anchor="ctr">
                    <a:solidFill>
                      <a:srgbClr val="8E2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FF6600"/>
                        </a:solidFill>
                      </a:endParaRPr>
                    </a:p>
                  </a:txBody>
                  <a:tcPr anchor="ctr">
                    <a:solidFill>
                      <a:srgbClr val="8E2C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Insinuações e comentários de teor sexual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fica ainda melhor quando usa essa roupa.”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Sinalize desconforto; registre data/local e quem presenciou.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Elogios invasivos sobre corpo  / sexualidade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Perguntas sobre vida sexual, aparência íntima.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Defina limite (“não comente meu corpo”); anote recorrência.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Perguntas pessoais insistentes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namora? Gosta de…?” mesmo após evitar o tema.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Interrompa a conversa; peça apoio de colega/gestão.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Piadas / memes sexualizados direcionados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Enviar figurinhas, vídeos ou “brincadeiras” com você como alvo.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Guarde evidências (prints); peça para parar por escrito.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Convites repetidos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após recusa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Insistência para sair, “só um drink”, mesmo com negativa.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Reitere a recusa; evite ficar a sós; compartilhe com alguém de confiança.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Contato físico “casual” não solicitado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Mão no ombro/cintura, encostar por trás, “abraço” forçado.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Afaste-se; nomeie o ato; priorize presença de terceiros.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5079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Mensagens fora de horário com teor sexual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DMs à noite, sugestões, “nudes?”,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pressão para responder.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Bloqueie/limite contato; ajuste privacidade; documente.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5079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Exposição a conteúdo sexual sem consentimento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Mostrar pornografia, fotos íntimas, links “para você”.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Interrompa e saia; registre; reporte em canal formal.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Sugestões de troca sexual por “favores”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“Posso te ajudar, você sabe como…” (promoção/nota/escala).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Trate como grave; busque RH/canal interno e suporte jurídico.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Retaliação após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impor limite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Piora do tratamento, isolamento, boicote depois do “não”.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Anote mudanças objetivas; peça feedback/critério por escrito.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Perseguição no ambiente (stalking)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Aparecer “por acaso”, seguir, vigiar deslocamentos.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Aumente segurança; avise rede; busque proteção institucional.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veladas para obter submissão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vai se arrepender” / “Posso acabar com sua carreira”.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enfrente sozinha(o); guarde provas; procure orientação especializada.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Toque íntimo não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Consentido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Aperto em partes íntimas, “passar a mão”, agarrar.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afaste-se, procure ajuda imediata e registre ocorrência.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Beijo forçado /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Imobilização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Segurar pelo braço, impedir saída, tentar beijar à força.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Busque local público/seguro; chame apoio; acione segurança/polícia.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5079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Coerção sexual por medo / ameaça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Pressão com chantagem, ameaça a familiares/rotina.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alto: priorize proteção; procure apoio jurídico e rede.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5079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Tentativa de forçar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 sexual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Tentar despir, tocar à força, insistir com violência.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total: acione 190; busque abrigo e ajuda imediata.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0820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Violência física associada ao assédio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Empurrões, agressões durante a coação.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médica + proteção; registre e procure atendimento.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660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Escalada para agressão sexual grave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 sexual imposto ou tentativa iminente.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5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sobrevivência; procure atendimento e apoio especializado o quanto antes.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7" name="Text 22">
            <a:extLst>
              <a:ext uri="{FF2B5EF4-FFF2-40B4-BE49-F238E27FC236}">
                <a16:creationId xmlns:a16="http://schemas.microsoft.com/office/drawing/2014/main" id="{5CEE2461-F96E-BA47-2F77-3D56A4F9B591}"/>
              </a:ext>
            </a:extLst>
          </p:cNvPr>
          <p:cNvSpPr/>
          <p:nvPr/>
        </p:nvSpPr>
        <p:spPr>
          <a:xfrm>
            <a:off x="383145" y="2854399"/>
            <a:ext cx="1167454" cy="316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E18B0CC9-2867-3919-C48F-4DE8D22CC9B8}"/>
              </a:ext>
            </a:extLst>
          </p:cNvPr>
          <p:cNvSpPr/>
          <p:nvPr/>
        </p:nvSpPr>
        <p:spPr>
          <a:xfrm>
            <a:off x="429026" y="5457934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8BB40460-7261-A051-8B26-FCAA5C8CE75B}"/>
              </a:ext>
            </a:extLst>
          </p:cNvPr>
          <p:cNvSpPr/>
          <p:nvPr/>
        </p:nvSpPr>
        <p:spPr>
          <a:xfrm>
            <a:off x="429026" y="7850043"/>
            <a:ext cx="1057246" cy="406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FC5F9AA6-2B94-6FC5-F124-AB2E960DECEC}"/>
              </a:ext>
            </a:extLst>
          </p:cNvPr>
          <p:cNvSpPr/>
          <p:nvPr/>
        </p:nvSpPr>
        <p:spPr>
          <a:xfrm>
            <a:off x="1963485" y="952445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8505E648-F6F1-8371-D1C0-BDBF5AFA1DA7}"/>
              </a:ext>
            </a:extLst>
          </p:cNvPr>
          <p:cNvSpPr/>
          <p:nvPr/>
        </p:nvSpPr>
        <p:spPr>
          <a:xfrm>
            <a:off x="3693681" y="9400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E91AC866-869A-FADB-DB40-A28A2C774F4B}"/>
              </a:ext>
            </a:extLst>
          </p:cNvPr>
          <p:cNvSpPr/>
          <p:nvPr/>
        </p:nvSpPr>
        <p:spPr>
          <a:xfrm>
            <a:off x="5586984" y="94008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46">
            <a:extLst>
              <a:ext uri="{FF2B5EF4-FFF2-40B4-BE49-F238E27FC236}">
                <a16:creationId xmlns:a16="http://schemas.microsoft.com/office/drawing/2014/main" id="{494A5732-D257-8F1B-6807-21AA20DC71BA}"/>
              </a:ext>
            </a:extLst>
          </p:cNvPr>
          <p:cNvSpPr/>
          <p:nvPr/>
        </p:nvSpPr>
        <p:spPr>
          <a:xfrm>
            <a:off x="2049990" y="9796092"/>
            <a:ext cx="4864608" cy="785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assédios</a:t>
            </a:r>
            <a:endParaRPr lang="en-US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100" b="1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</a:t>
            </a:r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A36F32E-7C6F-4EAA-8AC0-1AB763840AA3}"/>
              </a:ext>
            </a:extLst>
          </p:cNvPr>
          <p:cNvSpPr/>
          <p:nvPr/>
        </p:nvSpPr>
        <p:spPr>
          <a:xfrm>
            <a:off x="429025" y="864965"/>
            <a:ext cx="1116001" cy="684000"/>
          </a:xfrm>
          <a:prstGeom prst="rect">
            <a:avLst/>
          </a:prstGeom>
          <a:solidFill>
            <a:srgbClr val="8E2C8E"/>
          </a:solidFill>
          <a:ln>
            <a:solidFill>
              <a:srgbClr val="8E2C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F70A658-2FAE-316D-D8F3-2199D17D706A}"/>
              </a:ext>
            </a:extLst>
          </p:cNvPr>
          <p:cNvSpPr/>
          <p:nvPr/>
        </p:nvSpPr>
        <p:spPr>
          <a:xfrm>
            <a:off x="443156" y="248363"/>
            <a:ext cx="6768000" cy="548640"/>
          </a:xfrm>
          <a:prstGeom prst="rect">
            <a:avLst/>
          </a:prstGeom>
          <a:solidFill>
            <a:srgbClr val="8E2C8E"/>
          </a:solidFill>
          <a:ln>
            <a:solidFill>
              <a:srgbClr val="6A1B9A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Violentômetro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   Assédio Sexual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90A7907-CEB0-B747-587F-65B88C32C9B6}"/>
              </a:ext>
            </a:extLst>
          </p:cNvPr>
          <p:cNvSpPr/>
          <p:nvPr/>
        </p:nvSpPr>
        <p:spPr>
          <a:xfrm>
            <a:off x="429026" y="6896110"/>
            <a:ext cx="1116000" cy="264993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501D4A2-2ED0-CCE3-D48D-E7CFE5009D67}"/>
              </a:ext>
            </a:extLst>
          </p:cNvPr>
          <p:cNvSpPr>
            <a:spLocks noChangeAspect="1"/>
          </p:cNvSpPr>
          <p:nvPr/>
        </p:nvSpPr>
        <p:spPr>
          <a:xfrm>
            <a:off x="429026" y="4225849"/>
            <a:ext cx="1121262" cy="2655467"/>
          </a:xfrm>
          <a:prstGeom prst="rect">
            <a:avLst/>
          </a:prstGeom>
          <a:solidFill>
            <a:srgbClr val="FF8C1A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BA7D3A7-455B-B9C9-6EB1-87824CD1A6DE}"/>
              </a:ext>
            </a:extLst>
          </p:cNvPr>
          <p:cNvSpPr/>
          <p:nvPr/>
        </p:nvSpPr>
        <p:spPr>
          <a:xfrm>
            <a:off x="429025" y="1584965"/>
            <a:ext cx="1121573" cy="303878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9CE1102-A446-14A9-738A-FE651454850E}"/>
              </a:ext>
            </a:extLst>
          </p:cNvPr>
          <p:cNvSpPr/>
          <p:nvPr/>
        </p:nvSpPr>
        <p:spPr>
          <a:xfrm>
            <a:off x="383145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C3BA5D5-EA91-A926-9A12-244E76C95DAC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7F4557F-67F8-A79A-AB8E-670AD13624BF}"/>
              </a:ext>
            </a:extLst>
          </p:cNvPr>
          <p:cNvSpPr/>
          <p:nvPr/>
        </p:nvSpPr>
        <p:spPr>
          <a:xfrm>
            <a:off x="429026" y="7895275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467870" y="9620189"/>
            <a:ext cx="1043116" cy="90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5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B0F5-8B2A-AD42-C9FC-656251F4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2FCCE5B8-BC33-5D1D-FD2C-C99B17875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667597"/>
              </p:ext>
            </p:extLst>
          </p:nvPr>
        </p:nvGraphicFramePr>
        <p:xfrm>
          <a:off x="1841156" y="877324"/>
          <a:ext cx="5400000" cy="88560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0996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693591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8E6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8E6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8E6A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Piadas depreciativas recorrentes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Comentários sobre aparência ou desempenho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Registrar datas e contextos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Ironia e sarcasmo direcionado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Ridicularização em reuniões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Anotar episódios e padrões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Deslegitimação intelectual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não entende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nada”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Solicitar feedback formal por escrito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Desqualificação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repetitiva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“Faz tudo errado”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Pedir critérios objetivos de avaliação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Questionamento da contratação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“Não sei como foi contratado(a)”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Registrar testemunhas e evidências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Isolamento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Exclusão de reuniões ou decisões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Confirmar exclusões por e-mail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4999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Ofensa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Direta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é burra(o)”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Registrar provas imediatamente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4999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Desvalorização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Absoluta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“Imprestável” / “Não serve pra nada”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Buscar RH ou canal interno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Humilhação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Pública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Constrangimento diante da equipe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Relatar formalmente por escrito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Esvaziamento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função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Retirada injustificada de tarefas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Solicitar descrição formal das atribuições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5398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Tarefas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Degradantes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Atividades punitivas incompatíveis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Comunicar inconformidade por escrito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indireta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“Se não aguenta, pede pra sair”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Buscar apoio sindical ou jurídico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direta de demissão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“Não sei porque não te demito”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Guardar provas e consultar advogado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Perseguição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Sistemática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Vigilância excessiva direcionada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Formalizar denúncia interna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4999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Avaliação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manipulada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Notas injustificadamente baixas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Solicitar revisão documentada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49999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Difamação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profissional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Espalhar rumores ofensivos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Reunir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testemunhas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0184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Retaliação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após denúncia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Perda de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oportunidades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Denunciar ao MPT ou sindicato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5879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Indução à demissão / adoecimento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Burnout ou ambiente insustentável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Avaliar afastamento médico e ação judicial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10" name="Text 26">
            <a:extLst>
              <a:ext uri="{FF2B5EF4-FFF2-40B4-BE49-F238E27FC236}">
                <a16:creationId xmlns:a16="http://schemas.microsoft.com/office/drawing/2014/main" id="{F8A1D7B5-9C7A-B569-2922-8BF38C213A98}"/>
              </a:ext>
            </a:extLst>
          </p:cNvPr>
          <p:cNvSpPr/>
          <p:nvPr/>
        </p:nvSpPr>
        <p:spPr>
          <a:xfrm>
            <a:off x="1963485" y="989516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B6CA9919-8214-D28F-E7DC-E01F9533E8E5}"/>
              </a:ext>
            </a:extLst>
          </p:cNvPr>
          <p:cNvSpPr/>
          <p:nvPr/>
        </p:nvSpPr>
        <p:spPr>
          <a:xfrm>
            <a:off x="3693681" y="977159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33CD77AE-A2EE-9702-0656-43C1FB7D219B}"/>
              </a:ext>
            </a:extLst>
          </p:cNvPr>
          <p:cNvSpPr/>
          <p:nvPr/>
        </p:nvSpPr>
        <p:spPr>
          <a:xfrm>
            <a:off x="5586984" y="952445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45">
            <a:extLst>
              <a:ext uri="{FF2B5EF4-FFF2-40B4-BE49-F238E27FC236}">
                <a16:creationId xmlns:a16="http://schemas.microsoft.com/office/drawing/2014/main" id="{18FDD200-921C-532D-E9B7-41428CC14178}"/>
              </a:ext>
            </a:extLst>
          </p:cNvPr>
          <p:cNvSpPr/>
          <p:nvPr/>
        </p:nvSpPr>
        <p:spPr>
          <a:xfrm>
            <a:off x="2049990" y="9737127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</a:t>
            </a:r>
            <a:r>
              <a:rPr lang="en-US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assédios</a:t>
            </a:r>
            <a:endParaRPr lang="en-US" sz="1800" dirty="0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6">
            <a:extLst>
              <a:ext uri="{FF2B5EF4-FFF2-40B4-BE49-F238E27FC236}">
                <a16:creationId xmlns:a16="http://schemas.microsoft.com/office/drawing/2014/main" id="{0B412352-847D-8FF3-0C2E-90D38022CC3B}"/>
              </a:ext>
            </a:extLst>
          </p:cNvPr>
          <p:cNvSpPr/>
          <p:nvPr/>
        </p:nvSpPr>
        <p:spPr>
          <a:xfrm>
            <a:off x="2049990" y="10020096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8D4B56A-B1E9-6ECD-1751-2616891C0A28}"/>
              </a:ext>
            </a:extLst>
          </p:cNvPr>
          <p:cNvSpPr/>
          <p:nvPr/>
        </p:nvSpPr>
        <p:spPr>
          <a:xfrm>
            <a:off x="429025" y="864965"/>
            <a:ext cx="1116001" cy="684000"/>
          </a:xfrm>
          <a:prstGeom prst="rect">
            <a:avLst/>
          </a:prstGeom>
          <a:solidFill>
            <a:srgbClr val="8E6AAE"/>
          </a:solidFill>
          <a:ln>
            <a:solidFill>
              <a:srgbClr val="8E6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42FF720-C090-E2E4-AE6A-033DC1010D9C}"/>
              </a:ext>
            </a:extLst>
          </p:cNvPr>
          <p:cNvSpPr/>
          <p:nvPr/>
        </p:nvSpPr>
        <p:spPr>
          <a:xfrm>
            <a:off x="443156" y="248363"/>
            <a:ext cx="6768000" cy="548640"/>
          </a:xfrm>
          <a:prstGeom prst="rect">
            <a:avLst/>
          </a:prstGeom>
          <a:solidFill>
            <a:srgbClr val="8E6AAE"/>
          </a:solidFill>
          <a:ln>
            <a:solidFill>
              <a:srgbClr val="8E6AAE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 Moral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0BEEC7CC-2449-F5F7-E9CD-25077CC5409C}"/>
              </a:ext>
            </a:extLst>
          </p:cNvPr>
          <p:cNvSpPr/>
          <p:nvPr/>
        </p:nvSpPr>
        <p:spPr>
          <a:xfrm>
            <a:off x="429026" y="6908467"/>
            <a:ext cx="1116000" cy="264993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08DB09E-B967-FE0B-A3F0-8E9B3E97456D}"/>
              </a:ext>
            </a:extLst>
          </p:cNvPr>
          <p:cNvSpPr>
            <a:spLocks noChangeAspect="1"/>
          </p:cNvSpPr>
          <p:nvPr/>
        </p:nvSpPr>
        <p:spPr>
          <a:xfrm>
            <a:off x="429026" y="4225849"/>
            <a:ext cx="1121262" cy="2744403"/>
          </a:xfrm>
          <a:prstGeom prst="rect">
            <a:avLst/>
          </a:prstGeom>
          <a:solidFill>
            <a:srgbClr val="FF8C1A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881145D-7D17-FAD0-3281-8D597F0613B9}"/>
              </a:ext>
            </a:extLst>
          </p:cNvPr>
          <p:cNvSpPr/>
          <p:nvPr/>
        </p:nvSpPr>
        <p:spPr>
          <a:xfrm>
            <a:off x="429025" y="1584965"/>
            <a:ext cx="1121573" cy="303878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9874A77-0532-40E1-156C-E35A3716A390}"/>
              </a:ext>
            </a:extLst>
          </p:cNvPr>
          <p:cNvSpPr/>
          <p:nvPr/>
        </p:nvSpPr>
        <p:spPr>
          <a:xfrm>
            <a:off x="383145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BC27366-EEA9-FBB2-AF5D-DF2DAD032759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C4E134A-421F-9F9B-6373-522C2AE74CE1}"/>
              </a:ext>
            </a:extLst>
          </p:cNvPr>
          <p:cNvSpPr/>
          <p:nvPr/>
        </p:nvSpPr>
        <p:spPr>
          <a:xfrm>
            <a:off x="429026" y="7895275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469555" y="9737127"/>
            <a:ext cx="1001329" cy="80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6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89D0-61C7-3118-45F4-07C63483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49687EC-E870-4748-659E-0D138061F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78448"/>
              </p:ext>
            </p:extLst>
          </p:nvPr>
        </p:nvGraphicFramePr>
        <p:xfrm>
          <a:off x="1853514" y="753754"/>
          <a:ext cx="5387642" cy="89693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68638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702453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Comentários políticos insistentes no ambiente de trabalho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Brincadeiras recorrentes sobre candidatos, insinuações sobre 'lado certo'.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Sinalize que prefere não tratar de política no trabalho; registre ocorrências.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Envio de conteúdos políticos em grupos corporativos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Compartilhamento de memes, vídeos ou pedidos de apoio em canais internos.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retirada do conteúdo; guarde prints; informe RH se continuar.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069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Perguntas diretas sobre voto ou posicionamento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“Em quem você vai votar?” dito de forma constrangedora.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Responda que o voto é secreto; reafirme limite de privacidade.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Convites para eventos políticos com pressão implícita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Sugestões de participação em atos com expectativa de presença.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Recuse formalmente; registre mensagem; comunique gestor neutro.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Associação de desempenho profissional a posicionamento político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Comentários como “aqui valorizamos quem apoia X”.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Documente; busque orientação no canal de ética.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069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Exposição pública de opiniões políticas de colaboradores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Divulgação de prints ou falas em reuniões para constranger.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Solicite retratação; registre testemunhas.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5063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 organizacional hostil por divergência política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Isolamento ou ironias frequentes por não aderir a determinado grupo.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Procure apoio formal; relate padrão repetitivo.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5063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Pressão explícita para apoiar candidato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Pedido direto de voto ou manifestação pública de apoio.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Recuse por escrito; preserve evidências; reporte ao RH.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Uso da hierarquia para influenciar voto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Gestor sugere consequências indiretas ligadas ao resultado eleitoral.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datas, falas e testemunhas; acione canal de denúncia.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Condicionar benefícios à adesão política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Promessa de vantagens caso apoie determinado candidato.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aceite; comunique imediatamente área de compliance.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069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veladas relacionadas ao emprego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Comentários como “depois da eleição veremos quem fica”.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Formalize relato; busque sindicato ou orientação jurídica.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Obrigatoriedade de participação em campanha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Exigência de comparecimento a atos ou divulgação de material político.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Recuse formalmente; registre; utilize canal externo se necessário.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direta de demissão por posicionamento político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Declaração clara de perda de emprego se não apoiar candidato.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Procure imediatamente assessoria jurídica e canal externo de denúncia.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Retaliação após recusa de apoio político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Mudança de função, redução salarial ou exclusão após negativa.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Reúna documentos; acione Ministério Público do Trabalho.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5063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Coerção coletiva para manipular voto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Reuniões para orientar voto sob ameaça institucional.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reunião; denuncie formalmente aos órgãos competentes.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50637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Monitoramento ou exigência de prova de voto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Pedido de foto da urna ou comprovação de escolha.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Recuse; preserve provas; denuncie imediatamente.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406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Perseguição sistemática por posicionamento político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Avaliações negativas injustificadas e isolamento contínuo.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Documente padrão; busque apoio jurídico e institucional.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6465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Demissão ou punição motivada por escolha política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Dispensa explícita vinculada a posicionamento eleitoral.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Aja judicialmente; denuncie ao Ministério Público do Trabalho.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8" name="Text 23">
            <a:extLst>
              <a:ext uri="{FF2B5EF4-FFF2-40B4-BE49-F238E27FC236}">
                <a16:creationId xmlns:a16="http://schemas.microsoft.com/office/drawing/2014/main" id="{5F3B837F-C563-E04E-175D-6163FA74F06B}"/>
              </a:ext>
            </a:extLst>
          </p:cNvPr>
          <p:cNvSpPr/>
          <p:nvPr/>
        </p:nvSpPr>
        <p:spPr>
          <a:xfrm>
            <a:off x="429026" y="5420863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1589E747-127A-CFBB-FFC5-DD18A04F5792}"/>
              </a:ext>
            </a:extLst>
          </p:cNvPr>
          <p:cNvSpPr/>
          <p:nvPr/>
        </p:nvSpPr>
        <p:spPr>
          <a:xfrm>
            <a:off x="1963485" y="878303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3629088A-3B78-6E97-211A-B872EDBD75C5}"/>
              </a:ext>
            </a:extLst>
          </p:cNvPr>
          <p:cNvSpPr/>
          <p:nvPr/>
        </p:nvSpPr>
        <p:spPr>
          <a:xfrm>
            <a:off x="3693681" y="86594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AA83C398-1DB8-C93A-2C1E-5DD8BD747DF7}"/>
              </a:ext>
            </a:extLst>
          </p:cNvPr>
          <p:cNvSpPr/>
          <p:nvPr/>
        </p:nvSpPr>
        <p:spPr>
          <a:xfrm>
            <a:off x="5586984" y="828875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45">
            <a:extLst>
              <a:ext uri="{FF2B5EF4-FFF2-40B4-BE49-F238E27FC236}">
                <a16:creationId xmlns:a16="http://schemas.microsoft.com/office/drawing/2014/main" id="{7A79D3E1-A84C-8806-0B84-AB698AA77C06}"/>
              </a:ext>
            </a:extLst>
          </p:cNvPr>
          <p:cNvSpPr/>
          <p:nvPr/>
        </p:nvSpPr>
        <p:spPr>
          <a:xfrm>
            <a:off x="2049990" y="9749484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</a:t>
            </a:r>
            <a:r>
              <a:rPr lang="en-US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assédios</a:t>
            </a:r>
            <a:endParaRPr lang="en-US" sz="1800" dirty="0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46">
            <a:extLst>
              <a:ext uri="{FF2B5EF4-FFF2-40B4-BE49-F238E27FC236}">
                <a16:creationId xmlns:a16="http://schemas.microsoft.com/office/drawing/2014/main" id="{11394156-B478-6D47-A10D-16D312EA766D}"/>
              </a:ext>
            </a:extLst>
          </p:cNvPr>
          <p:cNvSpPr/>
          <p:nvPr/>
        </p:nvSpPr>
        <p:spPr>
          <a:xfrm>
            <a:off x="2049990" y="10032453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303951-B543-281A-CDA1-D975C3A8C8CE}"/>
              </a:ext>
            </a:extLst>
          </p:cNvPr>
          <p:cNvSpPr/>
          <p:nvPr/>
        </p:nvSpPr>
        <p:spPr>
          <a:xfrm>
            <a:off x="429025" y="790823"/>
            <a:ext cx="1116001" cy="684000"/>
          </a:xfrm>
          <a:prstGeom prst="rect">
            <a:avLst/>
          </a:prstGeom>
          <a:solidFill>
            <a:srgbClr val="0B2545"/>
          </a:solidFill>
          <a:ln>
            <a:solidFill>
              <a:srgbClr val="8E6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F76D28DA-08CA-7E54-70CF-24297F1B1AEB}"/>
              </a:ext>
            </a:extLst>
          </p:cNvPr>
          <p:cNvSpPr/>
          <p:nvPr/>
        </p:nvSpPr>
        <p:spPr>
          <a:xfrm>
            <a:off x="443156" y="174221"/>
            <a:ext cx="6768000" cy="548640"/>
          </a:xfrm>
          <a:prstGeom prst="rect">
            <a:avLst/>
          </a:prstGeom>
          <a:solidFill>
            <a:srgbClr val="0B2545"/>
          </a:solidFill>
          <a:ln>
            <a:solidFill>
              <a:srgbClr val="8E6AAE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 Eleitoral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7DF9678A-A920-4F39-F4B9-78E0D282E40E}"/>
              </a:ext>
            </a:extLst>
          </p:cNvPr>
          <p:cNvSpPr/>
          <p:nvPr/>
        </p:nvSpPr>
        <p:spPr>
          <a:xfrm>
            <a:off x="429026" y="6821968"/>
            <a:ext cx="1116000" cy="264993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77B05E2-FB85-8B79-959C-75EA665553D4}"/>
              </a:ext>
            </a:extLst>
          </p:cNvPr>
          <p:cNvSpPr>
            <a:spLocks noChangeAspect="1"/>
          </p:cNvSpPr>
          <p:nvPr/>
        </p:nvSpPr>
        <p:spPr>
          <a:xfrm>
            <a:off x="429026" y="4151707"/>
            <a:ext cx="1121262" cy="2655467"/>
          </a:xfrm>
          <a:prstGeom prst="rect">
            <a:avLst/>
          </a:prstGeom>
          <a:solidFill>
            <a:srgbClr val="FF8C1A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D8763403-2EAE-C2B0-9B26-FB70D5755D25}"/>
              </a:ext>
            </a:extLst>
          </p:cNvPr>
          <p:cNvSpPr/>
          <p:nvPr/>
        </p:nvSpPr>
        <p:spPr>
          <a:xfrm>
            <a:off x="429025" y="1510823"/>
            <a:ext cx="1121573" cy="303878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68308738-5E38-F9ED-CD4C-83CFB596780C}"/>
              </a:ext>
            </a:extLst>
          </p:cNvPr>
          <p:cNvSpPr/>
          <p:nvPr/>
        </p:nvSpPr>
        <p:spPr>
          <a:xfrm>
            <a:off x="383145" y="2845616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9465125-7802-7899-0A0E-3FA030AE4C1B}"/>
              </a:ext>
            </a:extLst>
          </p:cNvPr>
          <p:cNvSpPr/>
          <p:nvPr/>
        </p:nvSpPr>
        <p:spPr>
          <a:xfrm>
            <a:off x="429026" y="5437773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792986D4-62E9-FA57-64B8-856521279D06}"/>
              </a:ext>
            </a:extLst>
          </p:cNvPr>
          <p:cNvSpPr/>
          <p:nvPr/>
        </p:nvSpPr>
        <p:spPr>
          <a:xfrm>
            <a:off x="429026" y="7821133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421312" y="9712459"/>
            <a:ext cx="1057246" cy="79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5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DC806-4BFF-0E29-3DB5-1396247D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9">
            <a:extLst>
              <a:ext uri="{FF2B5EF4-FFF2-40B4-BE49-F238E27FC236}">
                <a16:creationId xmlns:a16="http://schemas.microsoft.com/office/drawing/2014/main" id="{990C4B0D-03F0-F089-7A7B-BCAC6FA73305}"/>
              </a:ext>
            </a:extLst>
          </p:cNvPr>
          <p:cNvSpPr/>
          <p:nvPr/>
        </p:nvSpPr>
        <p:spPr>
          <a:xfrm>
            <a:off x="429026" y="7118536"/>
            <a:ext cx="1116000" cy="264993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6C0A021-B0BB-01FF-49C8-DDC3DEB5C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728696"/>
              </p:ext>
            </p:extLst>
          </p:nvPr>
        </p:nvGraphicFramePr>
        <p:xfrm>
          <a:off x="1856356" y="926752"/>
          <a:ext cx="5389200" cy="888377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77434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5883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5883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Deboche recorrente em grupos/threads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Reações e comentários para te ridicularizar.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Faça captura de tela; silencie notificações e preserve evidências.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Apelidos ofensivos e “zoeira” constante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 marcar com nomes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pejorativos.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remoção; registre quem participa/autoriza; busque apoio.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Exclusão deliberada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incluir em grupos, ocultar informações, “esquecer” convites.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Confirme por escrito; documente impactos; peça correção formal.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5676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Disseminação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boatos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Espalhar “histórias” sobre você para manchar reputação.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Guarde links/prints; comunique moderação/gestão; peça retratação.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Ataques em massa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(pile-on)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Várias contas te atacando ao mesmo tempo.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Evite responder no impulso; bloqueie/denuncie; peça ajuda para monitorar.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Humilhação pública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 imagens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Montagens, memes com sua foto, exposição ao ridículo.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Solicite remoção; registre URL/data; considere orientação jurídica.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Assédio em mensagens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Privadas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DMs agressivas, sexualizadas ou intimidatórias.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Bloqueie; reporte; compartilhe com alguém de confiança.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Impersonação /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 falsa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Criar perfil fingindo ser você, postar em seu nome.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Denuncie à plataforma; reúna provas; avise rede de contatos.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5676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Vazamento de dados pessoais (doxxing)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Publicar endereço, telefone, rotinas.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alto: ajuste privacidade; avise família; busque orientação e proteção.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diretas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online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“Vou te pegar”, “sei onde você mora”.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Trate como risco real; registre; acione 190 se houver iminência.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Invasão de contas /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Senhas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Mudança de senha, e-mails suspeitos, acessos não reconhecidos.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Troque senhas e ative 2FA; registre; procure suporte técnico.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Extorsão digital (sextortion/chantagem)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de expor conteúdo para obter dinheiro/sexo.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negocie sozinha(o); preserve provas; busque apoio especializado.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Stalking digital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Persistente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Monitorar cada postagem, criar múltiplas contas para perseguir.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Reforce barreiras; peça ajuda para denúncias; considere medida protetiva.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5676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Exposição íntima sem consentimento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Compartilhar nudes/íntimos ou “prints” privados.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preserve evidências; solicite remoção; busque apoio jurídico/psicológico.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Incitação ao ódio/violência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 você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Chamadas públicas para te atacar, “cancelamento” com ameaças.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iminente: acione proteção; registre; envolva autoridades se necessário.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de violência física organizada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Marcar “encontro” para agressão, convocar grupo.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Evite deslocamentos sozinha(o); acione 190; avise rede imediatamente.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3188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Coerção com dano real (perda de emprego/estudo)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Contatar chefia/escola para te punir com base em mentira.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Documente; formalize defesa; busque orientação jurídica.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4007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Perigo extremo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contínuo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persistentes + localização exposta + perseguição ativa.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segurança: proteção imediata, rede, e apoio especializado.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7" name="Text 22">
            <a:extLst>
              <a:ext uri="{FF2B5EF4-FFF2-40B4-BE49-F238E27FC236}">
                <a16:creationId xmlns:a16="http://schemas.microsoft.com/office/drawing/2014/main" id="{0998E294-F5E2-363B-9BBA-4584ABDAED0B}"/>
              </a:ext>
            </a:extLst>
          </p:cNvPr>
          <p:cNvSpPr/>
          <p:nvPr/>
        </p:nvSpPr>
        <p:spPr>
          <a:xfrm>
            <a:off x="383145" y="2804971"/>
            <a:ext cx="1167454" cy="316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1ECCE25C-5B16-5BEF-8A46-4FE692EBFA55}"/>
              </a:ext>
            </a:extLst>
          </p:cNvPr>
          <p:cNvSpPr/>
          <p:nvPr/>
        </p:nvSpPr>
        <p:spPr>
          <a:xfrm>
            <a:off x="429026" y="5420863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009BCCAE-41A6-ABB6-D076-CB9FCC611392}"/>
              </a:ext>
            </a:extLst>
          </p:cNvPr>
          <p:cNvSpPr/>
          <p:nvPr/>
        </p:nvSpPr>
        <p:spPr>
          <a:xfrm>
            <a:off x="1963485" y="96480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CAF73A02-3B5D-AA89-96F5-ACAC3ACD2770}"/>
              </a:ext>
            </a:extLst>
          </p:cNvPr>
          <p:cNvSpPr/>
          <p:nvPr/>
        </p:nvSpPr>
        <p:spPr>
          <a:xfrm>
            <a:off x="3656610" y="952445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99F8D0A1-3115-AA91-9EF0-30FEEE757390}"/>
              </a:ext>
            </a:extLst>
          </p:cNvPr>
          <p:cNvSpPr/>
          <p:nvPr/>
        </p:nvSpPr>
        <p:spPr>
          <a:xfrm>
            <a:off x="5636412" y="977159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45">
            <a:extLst>
              <a:ext uri="{FF2B5EF4-FFF2-40B4-BE49-F238E27FC236}">
                <a16:creationId xmlns:a16="http://schemas.microsoft.com/office/drawing/2014/main" id="{B2CA1EB2-5CA5-BE89-ABB1-EA83BE16A2ED}"/>
              </a:ext>
            </a:extLst>
          </p:cNvPr>
          <p:cNvSpPr/>
          <p:nvPr/>
        </p:nvSpPr>
        <p:spPr>
          <a:xfrm>
            <a:off x="2049990" y="9811269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</a:t>
            </a:r>
            <a:r>
              <a:rPr lang="en-US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assédios</a:t>
            </a:r>
            <a:endParaRPr lang="en-US" sz="1800" dirty="0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6">
            <a:extLst>
              <a:ext uri="{FF2B5EF4-FFF2-40B4-BE49-F238E27FC236}">
                <a16:creationId xmlns:a16="http://schemas.microsoft.com/office/drawing/2014/main" id="{38C78217-4C90-3354-7D6B-D9F85D87B0BE}"/>
              </a:ext>
            </a:extLst>
          </p:cNvPr>
          <p:cNvSpPr/>
          <p:nvPr/>
        </p:nvSpPr>
        <p:spPr>
          <a:xfrm>
            <a:off x="2049990" y="10094238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E2BC32C-258C-8226-2E36-EF724F33DC6D}"/>
              </a:ext>
            </a:extLst>
          </p:cNvPr>
          <p:cNvSpPr/>
          <p:nvPr/>
        </p:nvSpPr>
        <p:spPr>
          <a:xfrm>
            <a:off x="429025" y="939107"/>
            <a:ext cx="1116001" cy="612000"/>
          </a:xfrm>
          <a:prstGeom prst="rect">
            <a:avLst/>
          </a:prstGeom>
          <a:solidFill>
            <a:srgbClr val="1B6CA8"/>
          </a:solidFill>
          <a:ln>
            <a:solidFill>
              <a:srgbClr val="8E6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3CE7807B-9A37-D393-2FE7-59145F3A4180}"/>
              </a:ext>
            </a:extLst>
          </p:cNvPr>
          <p:cNvSpPr/>
          <p:nvPr/>
        </p:nvSpPr>
        <p:spPr>
          <a:xfrm>
            <a:off x="443156" y="285434"/>
            <a:ext cx="6768000" cy="548640"/>
          </a:xfrm>
          <a:prstGeom prst="rect">
            <a:avLst/>
          </a:prstGeom>
          <a:solidFill>
            <a:srgbClr val="1B6CA8"/>
          </a:solidFill>
          <a:ln>
            <a:solidFill>
              <a:srgbClr val="8E6AAE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Violência Digital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D0920284-A2AB-2023-1260-5D5E6443FCAF}"/>
              </a:ext>
            </a:extLst>
          </p:cNvPr>
          <p:cNvSpPr>
            <a:spLocks noChangeAspect="1"/>
          </p:cNvSpPr>
          <p:nvPr/>
        </p:nvSpPr>
        <p:spPr>
          <a:xfrm>
            <a:off x="429026" y="4744842"/>
            <a:ext cx="1117829" cy="2373694"/>
          </a:xfrm>
          <a:prstGeom prst="rect">
            <a:avLst/>
          </a:prstGeom>
          <a:solidFill>
            <a:srgbClr val="FF8C1A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F4B5F46A-5FEB-48D6-566E-E7113F5F65D8}"/>
              </a:ext>
            </a:extLst>
          </p:cNvPr>
          <p:cNvSpPr/>
          <p:nvPr/>
        </p:nvSpPr>
        <p:spPr>
          <a:xfrm>
            <a:off x="429025" y="1560251"/>
            <a:ext cx="1121573" cy="316800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F24FE41-EA74-FD32-C279-79D9E7137F18}"/>
              </a:ext>
            </a:extLst>
          </p:cNvPr>
          <p:cNvSpPr/>
          <p:nvPr/>
        </p:nvSpPr>
        <p:spPr>
          <a:xfrm>
            <a:off x="407859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6E25645-A854-E7AE-D1F1-F68B9A256D9E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38DBC012-C19B-1D68-9B97-E3D2EFA53EB7}"/>
              </a:ext>
            </a:extLst>
          </p:cNvPr>
          <p:cNvSpPr/>
          <p:nvPr/>
        </p:nvSpPr>
        <p:spPr>
          <a:xfrm>
            <a:off x="490815" y="8092986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466092" y="9895299"/>
            <a:ext cx="9337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1DA9-22C7-FE0F-F9EE-68721D97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3A0D157-200E-B5CE-5520-602D44612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513490"/>
              </p:ext>
            </p:extLst>
          </p:nvPr>
        </p:nvGraphicFramePr>
        <p:xfrm>
          <a:off x="1814047" y="891805"/>
          <a:ext cx="5400000" cy="888979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0996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E40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E40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E40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Comentários estereotipados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é assim por causa de…” (característica pessoal).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Nomeie o comentário; registre contexto e frequência.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Piadas e “brincadeiras” sobre grupo social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Rir quando você se incomoda, minimizar.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que parem; procure aliado(s); anote testemunhas.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Tratamento desigual em pequenas decisões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Sempre você recebe tarefas piores/menos visíveis.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Solicite critérios claros; registre comparações objetivas.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Interrupções e invalidação constante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Ignorar suas falas e repetir depois como se fosse “ideia nova”.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Documente reuniões; peça ata/registro e reconhecimento formal.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Questionar competência sem base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não tem perfil” / “não é daqui”.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feedback por escrito; guarde evidências.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Exclusão de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Oportunidades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convidar para projetos, treinamentos, promoções.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Solicite transparência; registre negativas e justificativas.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Recusa de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atendimento/serviço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 barrada(o), vigiada(o) ou destratada(o) em público.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Guarde provas (nota/local/testemunhas); busque canais formais.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Assédio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Discriminatório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Insultos, apelidos e ataques ligados à característica.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Formalize denúncia; procure apoio institucional.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Humilhação pública discriminatória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Constranger na frente de outras pessoas, “expor” você.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Registre; peça intervenção imediata; relate por escrito.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Punições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Seletivas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Advertências só para você por condutas toleradas em outros.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isonomia e documentação; guarde histórico.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e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Intimidação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“Aqui não é lugar pra você” / intimidação no dia a dia.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Avalie risco; acione rede; busque orientação jurídica.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370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Retaliação após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Denúncia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Cortar recursos, rebaixar, isolar depois de reportar.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nexo temporal; busque canal externo se necessário.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Discurso de ódio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Explícito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Ofensas graves, incitação contra seu grupo.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proteja-se; registre; acione autoridades se houver ameaça.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57445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Perseguição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Sistemática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Vigilância e ataques repetidos para “expulsar” você.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Formalize; busque proteção institucional e jurídica.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Violência patrimonial / organizacional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Negar recursos, sabotar ferramentas, impedir acesso propositalmente.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Registre; peça providências formais; busque apoio especializado.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Agressão física / ameaça imediata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Empurrões, agressões, ameaça de ataque.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acione 190; vá a local seguro; procure atendimento.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Ataque em grupo / emboscada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Várias pessoas cercando, perseguindo, agredindo.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total: proteção imediata e apoio médico/jurídico.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4130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letal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(crime de ódio)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de morte ou tentativa de homicídio.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sobrevivência: acione socorro imediatamente e aumente proteção.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7" name="Text 22">
            <a:extLst>
              <a:ext uri="{FF2B5EF4-FFF2-40B4-BE49-F238E27FC236}">
                <a16:creationId xmlns:a16="http://schemas.microsoft.com/office/drawing/2014/main" id="{782AB0CA-A72E-F16C-26F2-2E6428E1BA10}"/>
              </a:ext>
            </a:extLst>
          </p:cNvPr>
          <p:cNvSpPr/>
          <p:nvPr/>
        </p:nvSpPr>
        <p:spPr>
          <a:xfrm>
            <a:off x="383145" y="2804971"/>
            <a:ext cx="1167454" cy="316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7ECA8C90-1987-BF72-F4CD-67CAA58F8E67}"/>
              </a:ext>
            </a:extLst>
          </p:cNvPr>
          <p:cNvSpPr/>
          <p:nvPr/>
        </p:nvSpPr>
        <p:spPr>
          <a:xfrm>
            <a:off x="429026" y="5420863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2CDC2FFD-D68E-70DB-AC3B-20107DDA322D}"/>
              </a:ext>
            </a:extLst>
          </p:cNvPr>
          <p:cNvSpPr/>
          <p:nvPr/>
        </p:nvSpPr>
        <p:spPr>
          <a:xfrm>
            <a:off x="1963485" y="96480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C4452D0E-E04A-B313-E428-43A922D22BDA}"/>
              </a:ext>
            </a:extLst>
          </p:cNvPr>
          <p:cNvSpPr/>
          <p:nvPr/>
        </p:nvSpPr>
        <p:spPr>
          <a:xfrm>
            <a:off x="3656610" y="952445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8958ECB2-219B-E560-A58A-16474FCE7414}"/>
              </a:ext>
            </a:extLst>
          </p:cNvPr>
          <p:cNvSpPr/>
          <p:nvPr/>
        </p:nvSpPr>
        <p:spPr>
          <a:xfrm>
            <a:off x="5586984" y="94008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45">
            <a:extLst>
              <a:ext uri="{FF2B5EF4-FFF2-40B4-BE49-F238E27FC236}">
                <a16:creationId xmlns:a16="http://schemas.microsoft.com/office/drawing/2014/main" id="{7C428FB1-90F1-FF5E-2521-09F78E8F011E}"/>
              </a:ext>
            </a:extLst>
          </p:cNvPr>
          <p:cNvSpPr/>
          <p:nvPr/>
        </p:nvSpPr>
        <p:spPr>
          <a:xfrm>
            <a:off x="2148846" y="9786555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</a:t>
            </a:r>
            <a:r>
              <a:rPr lang="en-US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assédios</a:t>
            </a:r>
            <a:endParaRPr lang="en-US" sz="1800" dirty="0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46">
            <a:extLst>
              <a:ext uri="{FF2B5EF4-FFF2-40B4-BE49-F238E27FC236}">
                <a16:creationId xmlns:a16="http://schemas.microsoft.com/office/drawing/2014/main" id="{ABF465CD-8E11-3358-96EB-3F3901C9A7E5}"/>
              </a:ext>
            </a:extLst>
          </p:cNvPr>
          <p:cNvSpPr/>
          <p:nvPr/>
        </p:nvSpPr>
        <p:spPr>
          <a:xfrm>
            <a:off x="2148846" y="10069524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8F56782-C842-5546-962E-B9DD677413D0}"/>
              </a:ext>
            </a:extLst>
          </p:cNvPr>
          <p:cNvSpPr/>
          <p:nvPr/>
        </p:nvSpPr>
        <p:spPr>
          <a:xfrm>
            <a:off x="429025" y="864965"/>
            <a:ext cx="1116001" cy="684000"/>
          </a:xfrm>
          <a:prstGeom prst="rect">
            <a:avLst/>
          </a:prstGeom>
          <a:solidFill>
            <a:srgbClr val="E40303"/>
          </a:solidFill>
          <a:ln>
            <a:solidFill>
              <a:srgbClr val="E403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E8D2BA52-D8D3-B72F-031D-17FB39344D05}"/>
              </a:ext>
            </a:extLst>
          </p:cNvPr>
          <p:cNvSpPr/>
          <p:nvPr/>
        </p:nvSpPr>
        <p:spPr>
          <a:xfrm>
            <a:off x="443156" y="248363"/>
            <a:ext cx="6768000" cy="548640"/>
          </a:xfrm>
          <a:prstGeom prst="rect">
            <a:avLst/>
          </a:prstGeom>
          <a:solidFill>
            <a:srgbClr val="E40303"/>
          </a:solidFill>
          <a:ln>
            <a:solidFill>
              <a:srgbClr val="E40303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    Discriminação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65EE3874-BA62-46F3-5BD9-BD38CDDB31D2}"/>
              </a:ext>
            </a:extLst>
          </p:cNvPr>
          <p:cNvSpPr/>
          <p:nvPr/>
        </p:nvSpPr>
        <p:spPr>
          <a:xfrm>
            <a:off x="429026" y="6933181"/>
            <a:ext cx="1116000" cy="2808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9E6E2CC4-9FEF-09D1-6EF2-892DDC6073A0}"/>
              </a:ext>
            </a:extLst>
          </p:cNvPr>
          <p:cNvSpPr>
            <a:spLocks noChangeAspect="1"/>
          </p:cNvSpPr>
          <p:nvPr/>
        </p:nvSpPr>
        <p:spPr>
          <a:xfrm>
            <a:off x="429026" y="4225849"/>
            <a:ext cx="1121262" cy="2744403"/>
          </a:xfrm>
          <a:prstGeom prst="rect">
            <a:avLst/>
          </a:prstGeom>
          <a:solidFill>
            <a:srgbClr val="FF8C00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3F4038D2-F5EF-7E9A-76BE-DB0C815FD154}"/>
              </a:ext>
            </a:extLst>
          </p:cNvPr>
          <p:cNvSpPr/>
          <p:nvPr/>
        </p:nvSpPr>
        <p:spPr>
          <a:xfrm>
            <a:off x="429025" y="1433384"/>
            <a:ext cx="1121573" cy="3190361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94E6387C-5834-98E7-3AD8-1633B221503B}"/>
              </a:ext>
            </a:extLst>
          </p:cNvPr>
          <p:cNvSpPr/>
          <p:nvPr/>
        </p:nvSpPr>
        <p:spPr>
          <a:xfrm>
            <a:off x="383145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A0391DD6-04EE-730C-74B9-48506B18F7F6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D1BABF02-B090-C487-34CE-07A3AB6B322A}"/>
              </a:ext>
            </a:extLst>
          </p:cNvPr>
          <p:cNvSpPr/>
          <p:nvPr/>
        </p:nvSpPr>
        <p:spPr>
          <a:xfrm>
            <a:off x="429026" y="7895275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534014" y="9858228"/>
            <a:ext cx="95843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3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49ED-0975-70EA-F251-557C1330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63BEA85B-D470-ED7A-13BB-E84960E8C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62802"/>
              </p:ext>
            </p:extLst>
          </p:nvPr>
        </p:nvGraphicFramePr>
        <p:xfrm>
          <a:off x="1848672" y="839483"/>
          <a:ext cx="5400000" cy="8955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0996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Interrupções e cortes frequentes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Falar por cima, não deixar concluir frases.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espaço (“vou concluir”); registre padrão em reuniões.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Elogio “com veneno”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é articulado(a)… pra quem é.”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Nomeie o impacto; procure aliado(s) para apoiar na hora.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Brincadeiras sobre sotaque/aparência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Imitar jeito de falar, cabelo, roupas, trejeitos.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Defina limites; registre recorrência e testemunhas.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5778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Suposições e estereótipos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Assumir função/nível inferior, “você deve ser…”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Corrija a suposição; peça reconhecimento formal do seu papel.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Minimizar experiências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está exagerando” / “é mimimi”.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Valide-se com sua rede; documente episódios e impactos.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Microexclusão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Ignorar mensagens, não responder, deixar de fora de decisões pequenas.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confirmação por escrito; alinhe expectativas com liderança.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Crédito indevido por ideias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Apropriar-se do que você propôs.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por e-mail/ata; peça atribuição clara.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Padrão de avaliação mais duro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Cobranças extras só para você, “prova” contínua.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Solicite critérios objetivos; guarde comparativos.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5778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Piadas recorrentes com humilhação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“Só estou brincando” após constranger.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Relate formalmente; peça intervenção; preserve evidências.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Isolamento de redes e projetos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Retirar oportunidades e conexões importantes.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Peça justificativas; formalize pedido de inclusão/treino.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Gaslighting institucional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Negar fatos, reescrever eventos para te desacreditar.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Documente; busque testemunhas; centralize tudo por escrito.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Retaliação por se posicionar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Punição velada após você apontar problema.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nexo; busque canais internos e apoio jurídico se necessário.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Assédio direcionado e repetitivo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Ataques contínuos que afetam saúde mental.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alto: procure apoio especializado; formalize denúncia.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57785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e intimidação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vai perder espaço” / “vai se arrepender”.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fique sozinha(o); guarde provas; avalie medidas protetivas.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Difamação e sabotagem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Espalhar boatos + impedir seu trabalho de funcionar.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Reúna evidências; solicite apuração formal.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44181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Humilhação pública grave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Expor você para “dar exemplo”, gritos, xingamentos.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segurança; registre; acione suporte institucional/externo.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3967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Adoecimento e risco psicológico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Crises, pânico, burnout por ambiente hostil.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Procure cuidado de saúde; avalie afastamento e proteção.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403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extremo e contínuo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Escalada com ameaça concreta à integridade.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proteja-se, acione rede e ajuda imediata.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7" name="Text 22">
            <a:extLst>
              <a:ext uri="{FF2B5EF4-FFF2-40B4-BE49-F238E27FC236}">
                <a16:creationId xmlns:a16="http://schemas.microsoft.com/office/drawing/2014/main" id="{E6000BC9-71CE-33E2-8B5F-579F229EBBC3}"/>
              </a:ext>
            </a:extLst>
          </p:cNvPr>
          <p:cNvSpPr/>
          <p:nvPr/>
        </p:nvSpPr>
        <p:spPr>
          <a:xfrm>
            <a:off x="383145" y="2804971"/>
            <a:ext cx="1167454" cy="316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2108896E-41C7-D20E-3822-01D319C5B086}"/>
              </a:ext>
            </a:extLst>
          </p:cNvPr>
          <p:cNvSpPr/>
          <p:nvPr/>
        </p:nvSpPr>
        <p:spPr>
          <a:xfrm>
            <a:off x="429026" y="5420863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681BE34D-19CF-8878-EB19-CA054166B228}"/>
              </a:ext>
            </a:extLst>
          </p:cNvPr>
          <p:cNvSpPr/>
          <p:nvPr/>
        </p:nvSpPr>
        <p:spPr>
          <a:xfrm>
            <a:off x="1963485" y="903017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C6776E44-7295-023A-A273-4C2A8579D55C}"/>
              </a:ext>
            </a:extLst>
          </p:cNvPr>
          <p:cNvSpPr/>
          <p:nvPr/>
        </p:nvSpPr>
        <p:spPr>
          <a:xfrm>
            <a:off x="3656610" y="8906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7952EF2F-6E57-756E-7807-747C3DB0610E}"/>
              </a:ext>
            </a:extLst>
          </p:cNvPr>
          <p:cNvSpPr/>
          <p:nvPr/>
        </p:nvSpPr>
        <p:spPr>
          <a:xfrm>
            <a:off x="5586984" y="903017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6">
            <a:extLst>
              <a:ext uri="{FF2B5EF4-FFF2-40B4-BE49-F238E27FC236}">
                <a16:creationId xmlns:a16="http://schemas.microsoft.com/office/drawing/2014/main" id="{0F938277-067F-2965-58FC-22F441DAF304}"/>
              </a:ext>
            </a:extLst>
          </p:cNvPr>
          <p:cNvSpPr/>
          <p:nvPr/>
        </p:nvSpPr>
        <p:spPr>
          <a:xfrm>
            <a:off x="2173560" y="9785621"/>
            <a:ext cx="4864608" cy="832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B254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violências.</a:t>
            </a:r>
          </a:p>
          <a:p>
            <a:pPr algn="just">
              <a:lnSpc>
                <a:spcPts val="50"/>
              </a:lnSpc>
            </a:pPr>
            <a:endParaRPr lang="en-US" sz="1100" b="1" dirty="0">
              <a:solidFill>
                <a:srgbClr val="0B2545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algn="just"/>
            <a:r>
              <a:rPr lang="pt-BR" sz="1100" b="1" dirty="0">
                <a:solidFill>
                  <a:srgbClr val="0B254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solidFill>
                <a:srgbClr val="0B25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E8002A5-87E2-1CD5-8A58-4C48644C0E09}"/>
              </a:ext>
            </a:extLst>
          </p:cNvPr>
          <p:cNvSpPr/>
          <p:nvPr/>
        </p:nvSpPr>
        <p:spPr>
          <a:xfrm>
            <a:off x="429025" y="852608"/>
            <a:ext cx="1116001" cy="6840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9E1BB74-0DDD-BE80-0E23-22CA16FB81DA}"/>
              </a:ext>
            </a:extLst>
          </p:cNvPr>
          <p:cNvSpPr/>
          <p:nvPr/>
        </p:nvSpPr>
        <p:spPr>
          <a:xfrm>
            <a:off x="443156" y="248363"/>
            <a:ext cx="6768000" cy="5486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           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Microagressões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EE6BD29A-1CB8-AD08-F4EF-2DB8EC4E4414}"/>
              </a:ext>
            </a:extLst>
          </p:cNvPr>
          <p:cNvSpPr/>
          <p:nvPr/>
        </p:nvSpPr>
        <p:spPr>
          <a:xfrm>
            <a:off x="429026" y="6933180"/>
            <a:ext cx="1116000" cy="2808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7834DFC4-2776-6715-CF72-5765C62B3A03}"/>
              </a:ext>
            </a:extLst>
          </p:cNvPr>
          <p:cNvSpPr>
            <a:spLocks noChangeAspect="1"/>
          </p:cNvSpPr>
          <p:nvPr/>
        </p:nvSpPr>
        <p:spPr>
          <a:xfrm>
            <a:off x="429026" y="4337062"/>
            <a:ext cx="1121262" cy="2744403"/>
          </a:xfrm>
          <a:prstGeom prst="rect">
            <a:avLst/>
          </a:prstGeom>
          <a:solidFill>
            <a:srgbClr val="FF8C00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7EB41D72-0777-87E7-7B70-0FEF95552CAE}"/>
              </a:ext>
            </a:extLst>
          </p:cNvPr>
          <p:cNvSpPr/>
          <p:nvPr/>
        </p:nvSpPr>
        <p:spPr>
          <a:xfrm>
            <a:off x="429025" y="1433384"/>
            <a:ext cx="1121573" cy="3190361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0891934C-C8E1-B309-1156-39E2D0A6D2CA}"/>
              </a:ext>
            </a:extLst>
          </p:cNvPr>
          <p:cNvSpPr/>
          <p:nvPr/>
        </p:nvSpPr>
        <p:spPr>
          <a:xfrm>
            <a:off x="383145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E08EE52-1EF9-6A99-FD13-C9A010AC5B77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7685FA7-5377-7B44-EA4A-0A84CF0BD1DE}"/>
              </a:ext>
            </a:extLst>
          </p:cNvPr>
          <p:cNvSpPr/>
          <p:nvPr/>
        </p:nvSpPr>
        <p:spPr>
          <a:xfrm>
            <a:off x="429026" y="7895275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536049" y="9798959"/>
            <a:ext cx="950223" cy="7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49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A765-D2C6-54DA-223A-067CA010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1">
            <a:extLst>
              <a:ext uri="{FF2B5EF4-FFF2-40B4-BE49-F238E27FC236}">
                <a16:creationId xmlns:a16="http://schemas.microsoft.com/office/drawing/2014/main" id="{2B039546-2C9E-B7B0-58B5-DD8FC225AEBA}"/>
              </a:ext>
            </a:extLst>
          </p:cNvPr>
          <p:cNvSpPr/>
          <p:nvPr/>
        </p:nvSpPr>
        <p:spPr>
          <a:xfrm>
            <a:off x="429025" y="1403609"/>
            <a:ext cx="1121573" cy="324000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63D36A7E-8D0D-524C-C265-49C01C639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19034"/>
              </p:ext>
            </p:extLst>
          </p:nvPr>
        </p:nvGraphicFramePr>
        <p:xfrm>
          <a:off x="1848672" y="839483"/>
          <a:ext cx="5400000" cy="90283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80996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809502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99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99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B99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378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Pressão para “ceder” sem vontade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“Se você gostasse de mim, faria.”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Reafirme limites; procure apoio de pessoa de confiança.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378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Insistência após negativa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Clara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Continuar tocando / avançando depois do “não”.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Saia do local; evite ficar a sós; busque rede.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378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Culpa e chantagem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me provocou” / “vai me deixar assim?”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Nomeie a coerção; encerre a interação; registre.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57547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Isolamento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Intencional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Levar para lugar afastado, impedir contato com amigos.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voltar para espaço seguro; compartilhe localização com rede.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saída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Ficar na porta, reter chaves/celular, impedir ir embora.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crescente: peça ajuda; busque presença de terceiros.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378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Toques íntimos não consentidos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Acariciar partes íntimas sem permissão.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Afaste-se e busque ajuda imediata; registre o ocorrido.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4378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Ameaças veladas /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Medo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vai se arrepender” / intimidação para obedecer.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Não enfrente sozinha(o); acione apoio e planeje saída.</a:t>
                      </a:r>
                    </a:p>
                  </a:txBody>
                  <a:tcPr marL="22860" marR="22860" marT="15240" marB="1524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Imobilização/força física para conter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Segurar braços, bloquear passagem, encurralar.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grite/pedir ajuda; vá a local público; acione 190 se possível.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57547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 sexual imposto por coerção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Consentimento inexistente por medo, ameaça ou pressão.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Procure apoio especializado; priorize segurança e acolhimento.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Perda de consciência ou confusão após consumo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Acordar sem lembrar, com sinais de violência.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Busque atendimento médico urgente e apoio; preserve evidências quando possível.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Violência física durante a agressão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Agressões, estrangulamento, ferimentos.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médica (192) + polícia (190) e proteção imediata.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com arma /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Objeto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Exibir faca/arma para impor o ato.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total: acione socorro e procure local seguro imediatamente.</a:t>
                      </a:r>
                    </a:p>
                  </a:txBody>
                  <a:tcPr marL="22860" marR="22860" marT="15240" marB="15240" anchor="ctr">
                    <a:solidFill>
                      <a:srgbClr val="FF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Agressão sexual com confinamento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Trancar, impedir saída, manter sob controle.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fuga segura; acione 190 assim que possível; busque rede.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57547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Estupro consumado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(qualquer forma)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pt-BR" sz="9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Ato sexual sem 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consentimento.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Procure atendimento médico e acolhimento o quanto antes; registre se desejar.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Repetição/estupro marital ou por parceiro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Impor sexo como “obrigação” e punir recusa.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Busque rede e suporte jurídico/psicológico; avalie proteção.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 de morte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associada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“Se contar, eu te mato” / ameaças à família.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extremo: acione proteção e autoridades; não fique sozinha(o).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Lesões graves e risco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vida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Espancamento associado à violência sexual.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médica + proteção imediata; priorize sobrevivência.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500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letal 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iminente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Tentativa de homicídio durante/apos agressão.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pt-BR" sz="9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total: acione socorro imediatamente e aumente proteção.</a:t>
                      </a:r>
                    </a:p>
                  </a:txBody>
                  <a:tcPr marL="22860" marR="22860" marT="15240" marB="1524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7" name="Text 22">
            <a:extLst>
              <a:ext uri="{FF2B5EF4-FFF2-40B4-BE49-F238E27FC236}">
                <a16:creationId xmlns:a16="http://schemas.microsoft.com/office/drawing/2014/main" id="{89DF11F6-A855-9ADE-A715-24B30FE25596}"/>
              </a:ext>
            </a:extLst>
          </p:cNvPr>
          <p:cNvSpPr/>
          <p:nvPr/>
        </p:nvSpPr>
        <p:spPr>
          <a:xfrm>
            <a:off x="432573" y="2804971"/>
            <a:ext cx="1167454" cy="3162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1B3BFA85-8AF3-0401-C278-A976D3CF5E86}"/>
              </a:ext>
            </a:extLst>
          </p:cNvPr>
          <p:cNvSpPr/>
          <p:nvPr/>
        </p:nvSpPr>
        <p:spPr>
          <a:xfrm>
            <a:off x="429026" y="5420863"/>
            <a:ext cx="1088136" cy="367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B7865BA0-2CBC-1C5D-A333-E4E10A0EB409}"/>
              </a:ext>
            </a:extLst>
          </p:cNvPr>
          <p:cNvSpPr/>
          <p:nvPr/>
        </p:nvSpPr>
        <p:spPr>
          <a:xfrm>
            <a:off x="466097" y="8060111"/>
            <a:ext cx="1057246" cy="406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00599988-FCE2-35D8-075E-93951E73B7E5}"/>
              </a:ext>
            </a:extLst>
          </p:cNvPr>
          <p:cNvSpPr/>
          <p:nvPr/>
        </p:nvSpPr>
        <p:spPr>
          <a:xfrm>
            <a:off x="1963485" y="8906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1A78BBB4-DFA9-B73B-C07A-423A6B6429D5}"/>
              </a:ext>
            </a:extLst>
          </p:cNvPr>
          <p:cNvSpPr/>
          <p:nvPr/>
        </p:nvSpPr>
        <p:spPr>
          <a:xfrm>
            <a:off x="3656610" y="878303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9AF2168D-9E66-A865-04E2-D09FDABB9D40}"/>
              </a:ext>
            </a:extLst>
          </p:cNvPr>
          <p:cNvSpPr/>
          <p:nvPr/>
        </p:nvSpPr>
        <p:spPr>
          <a:xfrm>
            <a:off x="5586984" y="89066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45">
            <a:extLst>
              <a:ext uri="{FF2B5EF4-FFF2-40B4-BE49-F238E27FC236}">
                <a16:creationId xmlns:a16="http://schemas.microsoft.com/office/drawing/2014/main" id="{7BF5E9B3-F220-473B-8F75-0CFE11C9390A}"/>
              </a:ext>
            </a:extLst>
          </p:cNvPr>
          <p:cNvSpPr/>
          <p:nvPr/>
        </p:nvSpPr>
        <p:spPr>
          <a:xfrm>
            <a:off x="2136489" y="9860697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</a:t>
            </a:r>
            <a:r>
              <a:rPr lang="en-US" b="1" dirty="0">
                <a:solidFill>
                  <a:srgbClr val="07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assédios</a:t>
            </a:r>
            <a:endParaRPr lang="en-US" sz="1800" dirty="0">
              <a:solidFill>
                <a:srgbClr val="0719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46">
            <a:extLst>
              <a:ext uri="{FF2B5EF4-FFF2-40B4-BE49-F238E27FC236}">
                <a16:creationId xmlns:a16="http://schemas.microsoft.com/office/drawing/2014/main" id="{ECB6D4EF-9D9E-24E4-CCFE-2A31ECFA51B4}"/>
              </a:ext>
            </a:extLst>
          </p:cNvPr>
          <p:cNvSpPr/>
          <p:nvPr/>
        </p:nvSpPr>
        <p:spPr>
          <a:xfrm>
            <a:off x="2136489" y="10094238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553431E-DD20-C34A-F286-E27DBDB8D84E}"/>
              </a:ext>
            </a:extLst>
          </p:cNvPr>
          <p:cNvSpPr/>
          <p:nvPr/>
        </p:nvSpPr>
        <p:spPr>
          <a:xfrm>
            <a:off x="429025" y="840251"/>
            <a:ext cx="1116001" cy="612000"/>
          </a:xfrm>
          <a:prstGeom prst="rect">
            <a:avLst/>
          </a:prstGeom>
          <a:solidFill>
            <a:srgbClr val="B99ACF"/>
          </a:solidFill>
          <a:ln>
            <a:solidFill>
              <a:srgbClr val="B99A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471C2F10-2963-5BAB-71CE-11E2A2FB3EC8}"/>
              </a:ext>
            </a:extLst>
          </p:cNvPr>
          <p:cNvSpPr/>
          <p:nvPr/>
        </p:nvSpPr>
        <p:spPr>
          <a:xfrm>
            <a:off x="443156" y="248363"/>
            <a:ext cx="6768000" cy="548640"/>
          </a:xfrm>
          <a:prstGeom prst="rect">
            <a:avLst/>
          </a:prstGeom>
          <a:solidFill>
            <a:srgbClr val="B99ACF"/>
          </a:solidFill>
          <a:ln>
            <a:solidFill>
              <a:srgbClr val="B99ACF"/>
            </a:solidFill>
          </a:ln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                   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Estupro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D8432FBD-C9AF-8450-ECE5-23EEF585F80C}"/>
              </a:ext>
            </a:extLst>
          </p:cNvPr>
          <p:cNvSpPr/>
          <p:nvPr/>
        </p:nvSpPr>
        <p:spPr>
          <a:xfrm>
            <a:off x="429026" y="6954404"/>
            <a:ext cx="1116000" cy="2844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853DE751-1F9B-DE24-D6D7-00A75B253FBA}"/>
              </a:ext>
            </a:extLst>
          </p:cNvPr>
          <p:cNvSpPr>
            <a:spLocks noChangeAspect="1"/>
          </p:cNvSpPr>
          <p:nvPr/>
        </p:nvSpPr>
        <p:spPr>
          <a:xfrm>
            <a:off x="429026" y="4349419"/>
            <a:ext cx="1121262" cy="2744403"/>
          </a:xfrm>
          <a:prstGeom prst="rect">
            <a:avLst/>
          </a:prstGeom>
          <a:solidFill>
            <a:srgbClr val="FF8C00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D95DEE88-C32D-47B3-A78B-9C32D0983C63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8016F51C-CDCF-3AE8-7285-CD1B20FD1CB8}"/>
              </a:ext>
            </a:extLst>
          </p:cNvPr>
          <p:cNvSpPr/>
          <p:nvPr/>
        </p:nvSpPr>
        <p:spPr>
          <a:xfrm>
            <a:off x="429026" y="8043559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540216" y="9904491"/>
            <a:ext cx="909007" cy="69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3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5D1C6-CF29-EE71-8176-631DB32E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F67FE39-5408-BFCE-47A2-80C5668EC31A}"/>
              </a:ext>
            </a:extLst>
          </p:cNvPr>
          <p:cNvGraphicFramePr>
            <a:graphicFrameLocks noGrp="1"/>
          </p:cNvGraphicFramePr>
          <p:nvPr/>
        </p:nvGraphicFramePr>
        <p:xfrm>
          <a:off x="1850241" y="976180"/>
          <a:ext cx="5329464" cy="861929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76488">
                  <a:extLst>
                    <a:ext uri="{9D8B030D-6E8A-4147-A177-3AD203B41FA5}">
                      <a16:colId xmlns:a16="http://schemas.microsoft.com/office/drawing/2014/main" val="2162825419"/>
                    </a:ext>
                  </a:extLst>
                </a:gridCol>
                <a:gridCol w="1776488">
                  <a:extLst>
                    <a:ext uri="{9D8B030D-6E8A-4147-A177-3AD203B41FA5}">
                      <a16:colId xmlns:a16="http://schemas.microsoft.com/office/drawing/2014/main" val="1854684239"/>
                    </a:ext>
                  </a:extLst>
                </a:gridCol>
                <a:gridCol w="1776488">
                  <a:extLst>
                    <a:ext uri="{9D8B030D-6E8A-4147-A177-3AD203B41FA5}">
                      <a16:colId xmlns:a16="http://schemas.microsoft.com/office/drawing/2014/main" val="1301915152"/>
                    </a:ext>
                  </a:extLst>
                </a:gridCol>
              </a:tblGrid>
              <a:tr h="70542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dirty="0"/>
                    </a:p>
                    <a:p>
                      <a:endParaRPr lang="pt-BR" dirty="0"/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97159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Chantagem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“Se me amasse,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faria isso.”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episódios; conte a alguém de confiança.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615250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Mentir / enganar (gaslighting)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“Você inventou isso / exagerou.”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Guarde prints/anotações; valide com sua rede.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489710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Ignorar / desprezar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(dar gelo)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Silêncio punitivo para te dobrar.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Anote padrão; fortaleça apoio externo.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703223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Ciúmes excessivo e vigilância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Interrogatórios, cobranças, localização.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Nomeie como controle; busque apoio.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01909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Ofender /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humilhar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“Era brincadeira” / humilhação em público.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Registre; não normalize; procure suporte.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20528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Intimidar /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ameaçar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Gritos, “você vai ver”, quebrar coisas.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Avalie risco; combine código de ajuda.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2958"/>
                  </a:ext>
                </a:extLst>
              </a:tr>
              <a:tr h="5085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Proibir /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Controlar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Controla roupas, amigos, celular e dinheiro.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Mapeie perdas de autonomia; peça orientação.</a:t>
                      </a:r>
                    </a:p>
                  </a:txBody>
                  <a:tcPr marL="7620" marR="7620" marT="7620" marB="0" anchor="ctr">
                    <a:solidFill>
                      <a:srgbClr val="F7B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85962"/>
                  </a:ext>
                </a:extLst>
              </a:tr>
              <a:tr h="5085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Destruir bens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Pessoais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Quebrar celular, rasgar roupas, sumir docs.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Fotografe; proteja documentos/itens essenciais.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648086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Machucar /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agredir “de leve”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Beliscar, arranhar, apertar para controlar.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Trate como agressão; busque apoio / atendimento.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35437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Empurrar /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Encurralar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Empurrões e força para intimidar.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Priorize local seguro; acione sua rede.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1080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Golpear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Tapa forte, soco, “brincar de bater”.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Registre marcas; procure suporte (saúde / jurídico).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687280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Chutar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Chutes com alto risco de lesão.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Risco alto: acione ajuda e evite isolamento.</a:t>
                      </a:r>
                    </a:p>
                  </a:txBody>
                  <a:tcPr marL="7620" marR="7620" marT="7620" marB="0" anchor="ctr">
                    <a:solidFill>
                      <a:srgbClr val="FF8C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482967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Confinar /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Prender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Trancar, impedir sair/ligar / pedir ajuda.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busque saída e ajuda imediata.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96129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Ameaçar com objetos /  armas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Exibir / encostar faca / a </a:t>
                      </a:r>
                      <a:r>
                        <a:rPr lang="pt-BR" sz="105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rma</a:t>
                      </a: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para intimidar.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risco iminente; acione proteção.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109902"/>
                  </a:ext>
                </a:extLst>
              </a:tr>
              <a:tr h="5085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Ameaçar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 morte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“Se você me deixar, eu te mato.”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Emergência: aumente proteção agora e busque ajuda.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51051"/>
                  </a:ext>
                </a:extLst>
              </a:tr>
              <a:tr h="5085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Forçar relação /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abuso sexual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Coerção sexual por culpa, ameaça ou força.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Apoio especializado + cuidados de saúde, se necessário.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18463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Espancar / </a:t>
                      </a:r>
                    </a:p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Mutilar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Espancamento /   estrangulamento / lesões graves.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médica + proteção imediata.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9559"/>
                  </a:ext>
                </a:extLst>
              </a:tr>
              <a:tr h="4087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Matar (feminicídio / homicídio)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Ataque letal / tentativa de homicídio.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Emergência total: acione socorro imediatamente.</a:t>
                      </a:r>
                    </a:p>
                  </a:txBody>
                  <a:tcPr marL="7620" marR="7620" marT="7620" marB="0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452539"/>
                  </a:ext>
                </a:extLst>
              </a:tr>
            </a:tbl>
          </a:graphicData>
        </a:graphic>
      </p:graphicFrame>
      <p:sp>
        <p:nvSpPr>
          <p:cNvPr id="2" name="Text 0">
            <a:extLst>
              <a:ext uri="{FF2B5EF4-FFF2-40B4-BE49-F238E27FC236}">
                <a16:creationId xmlns:a16="http://schemas.microsoft.com/office/drawing/2014/main" id="{E2106A11-AF62-799C-95AA-E5C53B2AF79F}"/>
              </a:ext>
            </a:extLst>
          </p:cNvPr>
          <p:cNvSpPr/>
          <p:nvPr/>
        </p:nvSpPr>
        <p:spPr>
          <a:xfrm>
            <a:off x="429025" y="320040"/>
            <a:ext cx="6750680" cy="54864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Violentômetro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   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Violência Doméstica</a:t>
            </a:r>
            <a:endParaRPr lang="en-US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8BEC5E07-4925-2380-1C1E-C61E243DA2E5}"/>
              </a:ext>
            </a:extLst>
          </p:cNvPr>
          <p:cNvSpPr/>
          <p:nvPr/>
        </p:nvSpPr>
        <p:spPr>
          <a:xfrm>
            <a:off x="429026" y="6896110"/>
            <a:ext cx="1116000" cy="264993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0">
            <a:extLst>
              <a:ext uri="{FF2B5EF4-FFF2-40B4-BE49-F238E27FC236}">
                <a16:creationId xmlns:a16="http://schemas.microsoft.com/office/drawing/2014/main" id="{0AD4549C-16C9-011D-5FE0-2E9A409D089A}"/>
              </a:ext>
            </a:extLst>
          </p:cNvPr>
          <p:cNvSpPr>
            <a:spLocks noChangeAspect="1"/>
          </p:cNvSpPr>
          <p:nvPr/>
        </p:nvSpPr>
        <p:spPr>
          <a:xfrm>
            <a:off x="429026" y="4225849"/>
            <a:ext cx="1121262" cy="2655467"/>
          </a:xfrm>
          <a:prstGeom prst="rect">
            <a:avLst/>
          </a:prstGeom>
          <a:solidFill>
            <a:srgbClr val="FF8C1A"/>
          </a:solidFill>
          <a:ln w="12700">
            <a:solidFill>
              <a:srgbClr val="FF8A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21">
            <a:extLst>
              <a:ext uri="{FF2B5EF4-FFF2-40B4-BE49-F238E27FC236}">
                <a16:creationId xmlns:a16="http://schemas.microsoft.com/office/drawing/2014/main" id="{983FD13F-7256-3357-0B84-7F6AD12400B7}"/>
              </a:ext>
            </a:extLst>
          </p:cNvPr>
          <p:cNvSpPr/>
          <p:nvPr/>
        </p:nvSpPr>
        <p:spPr>
          <a:xfrm>
            <a:off x="429025" y="1038955"/>
            <a:ext cx="1121573" cy="3584790"/>
          </a:xfrm>
          <a:prstGeom prst="rect">
            <a:avLst/>
          </a:prstGeom>
          <a:solidFill>
            <a:srgbClr val="F7B733"/>
          </a:solidFill>
          <a:ln w="127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2">
            <a:extLst>
              <a:ext uri="{FF2B5EF4-FFF2-40B4-BE49-F238E27FC236}">
                <a16:creationId xmlns:a16="http://schemas.microsoft.com/office/drawing/2014/main" id="{AF1AAD04-A9F8-9967-EAA4-D70994762991}"/>
              </a:ext>
            </a:extLst>
          </p:cNvPr>
          <p:cNvSpPr/>
          <p:nvPr/>
        </p:nvSpPr>
        <p:spPr>
          <a:xfrm>
            <a:off x="383145" y="2919758"/>
            <a:ext cx="1167454" cy="386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CUIDADO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ED00BF6B-75C9-1A50-B202-34A1515FE7D6}"/>
              </a:ext>
            </a:extLst>
          </p:cNvPr>
          <p:cNvSpPr/>
          <p:nvPr/>
        </p:nvSpPr>
        <p:spPr>
          <a:xfrm>
            <a:off x="429026" y="5511915"/>
            <a:ext cx="1088136" cy="449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REAJA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48256C0A-A651-0E2B-46D0-2693C56DCC75}"/>
              </a:ext>
            </a:extLst>
          </p:cNvPr>
          <p:cNvSpPr/>
          <p:nvPr/>
        </p:nvSpPr>
        <p:spPr>
          <a:xfrm>
            <a:off x="429026" y="7895275"/>
            <a:ext cx="1057246" cy="49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ALERTA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E335096D-428F-9D15-3BE4-47322B177E59}"/>
              </a:ext>
            </a:extLst>
          </p:cNvPr>
          <p:cNvSpPr/>
          <p:nvPr/>
        </p:nvSpPr>
        <p:spPr>
          <a:xfrm>
            <a:off x="1963485" y="11378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SINAIS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7CFBE1CE-2D42-0507-54C5-D9662D849E49}"/>
              </a:ext>
            </a:extLst>
          </p:cNvPr>
          <p:cNvSpPr/>
          <p:nvPr/>
        </p:nvSpPr>
        <p:spPr>
          <a:xfrm>
            <a:off x="3693681" y="1125443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28784EDB-2AFC-7DCA-9F07-BA7245C2E589}"/>
              </a:ext>
            </a:extLst>
          </p:cNvPr>
          <p:cNvSpPr/>
          <p:nvPr/>
        </p:nvSpPr>
        <p:spPr>
          <a:xfrm>
            <a:off x="5586984" y="1088372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ROTA DE SAÍDA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(ação segura)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45">
            <a:extLst>
              <a:ext uri="{FF2B5EF4-FFF2-40B4-BE49-F238E27FC236}">
                <a16:creationId xmlns:a16="http://schemas.microsoft.com/office/drawing/2014/main" id="{D42B506D-40C3-1232-D08A-E909DF28C81B}"/>
              </a:ext>
            </a:extLst>
          </p:cNvPr>
          <p:cNvSpPr/>
          <p:nvPr/>
        </p:nvSpPr>
        <p:spPr>
          <a:xfrm>
            <a:off x="2247698" y="9687699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 futuro é livre de violências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46">
            <a:extLst>
              <a:ext uri="{FF2B5EF4-FFF2-40B4-BE49-F238E27FC236}">
                <a16:creationId xmlns:a16="http://schemas.microsoft.com/office/drawing/2014/main" id="{74415246-BC6F-90AB-0B5F-7985993C259D}"/>
              </a:ext>
            </a:extLst>
          </p:cNvPr>
          <p:cNvSpPr/>
          <p:nvPr/>
        </p:nvSpPr>
        <p:spPr>
          <a:xfrm>
            <a:off x="2247698" y="9983025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100" b="1" dirty="0">
                <a:solidFill>
                  <a:srgbClr val="0B2A4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BYST.END — Plataforma para formação de ecossistemas preventivos e protetivos automatizados contra assédio sexual, assédio moral e violências de gênero (dentro e fora das organizações)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B7B43A4-5F05-73D1-D284-C605E50C0722}"/>
              </a:ext>
            </a:extLst>
          </p:cNvPr>
          <p:cNvSpPr/>
          <p:nvPr/>
        </p:nvSpPr>
        <p:spPr>
          <a:xfrm>
            <a:off x="429025" y="988537"/>
            <a:ext cx="1116001" cy="68400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ATENÇÃO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50A3DA-C566-10C6-4D61-01F0E80B9CC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738"/>
          <a:stretch>
            <a:fillRect/>
          </a:stretch>
        </p:blipFill>
        <p:spPr>
          <a:xfrm>
            <a:off x="439745" y="9687693"/>
            <a:ext cx="1057246" cy="8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8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17821</TotalTime>
  <Words>3797</Words>
  <Application>Microsoft Office PowerPoint</Application>
  <PresentationFormat>Personalizar</PresentationFormat>
  <Paragraphs>600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BYST.END</dc:creator>
  <cp:lastModifiedBy>rafaelacarvalho0308@gmail.com</cp:lastModifiedBy>
  <cp:revision>8</cp:revision>
  <dcterms:created xsi:type="dcterms:W3CDTF">2026-02-25T18:41:47Z</dcterms:created>
  <dcterms:modified xsi:type="dcterms:W3CDTF">2026-05-13T19:31:17Z</dcterms:modified>
</cp:coreProperties>
</file>